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Play"/>
      <p:regular r:id="rId30"/>
      <p:bold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g9YsIv/nK1p/ZuYDoxN4eRdXFx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ay-bold.fntdata"/><Relationship Id="rId30" Type="http://schemas.openxmlformats.org/officeDocument/2006/relationships/font" Target="fonts/Play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6" name="Google Shape;12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1" name="Google Shape;15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7" name="Google Shape;197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2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3" name="Google Shape;33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3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3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662675" y="1592050"/>
            <a:ext cx="10507200" cy="2193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b="1" lang="en-IN">
                <a:latin typeface="Narkisim"/>
                <a:ea typeface="Narkisim"/>
                <a:cs typeface="Narkisim"/>
                <a:sym typeface="Narkisim"/>
              </a:rPr>
              <a:t>Smart Irrigation System for Sustainable Water Management using Regression Model</a:t>
            </a:r>
            <a:endParaRPr b="1">
              <a:latin typeface="Narkisim"/>
              <a:ea typeface="Narkisim"/>
              <a:cs typeface="Narkisim"/>
              <a:sym typeface="Narkisim"/>
            </a:endParaRPr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8077200" y="4343400"/>
            <a:ext cx="37338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>
              <a:highlight>
                <a:schemeClr val="lt1"/>
              </a:highlight>
              <a:latin typeface="Narkisim"/>
              <a:ea typeface="Narkisim"/>
              <a:cs typeface="Narkisim"/>
              <a:sym typeface="Narkisim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>
                <a:highlight>
                  <a:schemeClr val="lt1"/>
                </a:highlight>
                <a:latin typeface="Narkisim"/>
                <a:ea typeface="Narkisim"/>
                <a:cs typeface="Narkisim"/>
                <a:sym typeface="Narkisim"/>
              </a:rPr>
              <a:t>Student group details</a:t>
            </a:r>
            <a:endParaRPr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>
                <a:solidFill>
                  <a:schemeClr val="lt1"/>
                </a:solidFill>
                <a:latin typeface="Narkisim"/>
                <a:ea typeface="Narkisim"/>
                <a:cs typeface="Narkisim"/>
                <a:sym typeface="Narkisim"/>
              </a:rPr>
              <a:t>Deekshith.K.S.(AMB2052)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>
                <a:solidFill>
                  <a:schemeClr val="lt1"/>
                </a:solidFill>
                <a:latin typeface="Narkisim"/>
                <a:ea typeface="Narkisim"/>
                <a:cs typeface="Narkisim"/>
                <a:sym typeface="Narkisim"/>
              </a:rPr>
              <a:t>Nikhil Kumar.K.N(AMB2155)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>
                <a:solidFill>
                  <a:schemeClr val="lt1"/>
                </a:solidFill>
                <a:latin typeface="Narkisim"/>
                <a:ea typeface="Narkisim"/>
                <a:cs typeface="Narkisim"/>
                <a:sym typeface="Narkisim"/>
              </a:rPr>
              <a:t>Pavan.M. (AMB2167)</a:t>
            </a:r>
            <a:endParaRPr>
              <a:solidFill>
                <a:schemeClr val="lt1"/>
              </a:solidFill>
              <a:latin typeface="Narkisim"/>
              <a:ea typeface="Narkisim"/>
              <a:cs typeface="Narkisim"/>
              <a:sym typeface="Narkisim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0" y="609600"/>
            <a:ext cx="1134650" cy="76837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228600" y="212113"/>
            <a:ext cx="11658600" cy="9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E79"/>
              </a:buClr>
              <a:buSzPts val="2800"/>
              <a:buFont typeface="Algerian"/>
              <a:buNone/>
            </a:pPr>
            <a:r>
              <a:rPr b="1" i="0" lang="en-IN" sz="2400" u="none" cap="none" strike="noStrike">
                <a:solidFill>
                  <a:srgbClr val="1F4E79"/>
                </a:solidFill>
                <a:highlight>
                  <a:schemeClr val="lt1"/>
                </a:highlight>
                <a:latin typeface="Algerian"/>
                <a:ea typeface="Algerian"/>
                <a:cs typeface="Algerian"/>
                <a:sym typeface="Algerian"/>
              </a:rPr>
              <a:t>UNIVERSITY OF AGRICULTURAL SCIENCES ,COLLEGE OF AGRICULTURE,</a:t>
            </a:r>
            <a:endParaRPr b="1" i="0" sz="500" u="none" cap="none" strike="noStrike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>
                <a:srgbClr val="1F4E79"/>
              </a:buClr>
              <a:buSzPts val="2800"/>
              <a:buFont typeface="Algerian"/>
              <a:buNone/>
            </a:pPr>
            <a:r>
              <a:rPr b="1" i="0" lang="en-IN" sz="2400" u="none" cap="none" strike="noStrike">
                <a:solidFill>
                  <a:srgbClr val="1F4E79"/>
                </a:solidFill>
                <a:highlight>
                  <a:schemeClr val="lt1"/>
                </a:highlight>
                <a:latin typeface="Algerian"/>
                <a:ea typeface="Algerian"/>
                <a:cs typeface="Algerian"/>
                <a:sym typeface="Algerian"/>
              </a:rPr>
              <a:t>GKVK, BANGLORE</a:t>
            </a:r>
            <a:endParaRPr b="0" i="0" sz="500" u="none" cap="none" strike="noStrike">
              <a:solidFill>
                <a:schemeClr val="dk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Content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93" name="Google Shape;93;p2"/>
          <p:cNvSpPr txBox="1"/>
          <p:nvPr>
            <p:ph idx="1" type="body"/>
          </p:nvPr>
        </p:nvSpPr>
        <p:spPr>
          <a:xfrm>
            <a:off x="838200" y="1143000"/>
            <a:ext cx="5181600" cy="5033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7747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Objectives of the project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Dataset Overview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Char char="•"/>
            </a:pPr>
            <a:r>
              <a:rPr lang="en-IN" sz="3300">
                <a:latin typeface="Times New Roman"/>
                <a:ea typeface="Times New Roman"/>
                <a:cs typeface="Times New Roman"/>
                <a:sym typeface="Times New Roman"/>
              </a:rPr>
              <a:t>Methodlogy/approach</a:t>
            </a:r>
            <a:endParaRPr/>
          </a:p>
        </p:txBody>
      </p:sp>
      <p:sp>
        <p:nvSpPr>
          <p:cNvPr id="94" name="Google Shape;94;p2"/>
          <p:cNvSpPr txBox="1"/>
          <p:nvPr>
            <p:ph idx="2" type="body"/>
          </p:nvPr>
        </p:nvSpPr>
        <p:spPr>
          <a:xfrm>
            <a:off x="5943600" y="990600"/>
            <a:ext cx="5867400" cy="55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</a:pPr>
            <a:r>
              <a:rPr lang="en-IN" sz="3200">
                <a:latin typeface="Times New Roman"/>
                <a:ea typeface="Times New Roman"/>
                <a:cs typeface="Times New Roman"/>
                <a:sym typeface="Times New Roman"/>
              </a:rPr>
              <a:t>Tools and Technologies Used</a:t>
            </a:r>
            <a:endParaRPr sz="32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</a:pPr>
            <a:r>
              <a:rPr lang="en-IN" sz="3200"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 sz="32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</a:pPr>
            <a:r>
              <a:rPr lang="en-IN" sz="3200">
                <a:latin typeface="Times New Roman"/>
                <a:ea typeface="Times New Roman"/>
                <a:cs typeface="Times New Roman"/>
                <a:sym typeface="Times New Roman"/>
              </a:rPr>
              <a:t>Discussion / Analysis</a:t>
            </a:r>
            <a:endParaRPr sz="32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</a:pPr>
            <a:r>
              <a:rPr lang="en-IN" sz="3200">
                <a:latin typeface="Times New Roman"/>
                <a:ea typeface="Times New Roman"/>
                <a:cs typeface="Times New Roman"/>
                <a:sym typeface="Times New Roman"/>
              </a:rPr>
              <a:t>Conclusion and Future Work</a:t>
            </a:r>
            <a:endParaRPr sz="3200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</a:pPr>
            <a:r>
              <a:rPr lang="en-IN" sz="3200">
                <a:latin typeface="Times New Roman"/>
                <a:ea typeface="Times New Roman"/>
                <a:cs typeface="Times New Roman"/>
                <a:sym typeface="Times New Roman"/>
              </a:rPr>
              <a:t>References/Acknowledgements</a:t>
            </a:r>
            <a:endParaRPr/>
          </a:p>
          <a:p>
            <a:pPr indent="-7747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>
                <a:solidFill>
                  <a:srgbClr val="D86C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>
              <a:solidFill>
                <a:srgbClr val="D86CCC"/>
              </a:solidFill>
            </a:endParaRPr>
          </a:p>
        </p:txBody>
      </p:sp>
      <p:sp>
        <p:nvSpPr>
          <p:cNvPr id="100" name="Google Shape;100;p3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-164465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IN">
                <a:latin typeface="Arial"/>
                <a:ea typeface="Arial"/>
                <a:cs typeface="Arial"/>
                <a:sym typeface="Arial"/>
              </a:rPr>
              <a:t>Agriculture is a major sector that depends heavily on water for crop production and sustainability.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164465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IN">
                <a:latin typeface="Arial"/>
                <a:ea typeface="Arial"/>
                <a:cs typeface="Arial"/>
                <a:sym typeface="Arial"/>
              </a:rPr>
              <a:t>Traditional irrigation methods are mostly manual and based on experience or fixed schedules.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164465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IN">
                <a:latin typeface="Arial"/>
                <a:ea typeface="Arial"/>
                <a:cs typeface="Arial"/>
                <a:sym typeface="Arial"/>
              </a:rPr>
              <a:t>These methods often lead to over-irrigation (water wastage) or under-irrigation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164465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IN">
                <a:latin typeface="Arial"/>
                <a:ea typeface="Arial"/>
                <a:cs typeface="Arial"/>
                <a:sym typeface="Arial"/>
              </a:rPr>
              <a:t>There is a growing need for efficient and sustainable irrigation systems to optimize water usage.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n-IN" sz="2800">
                <a:solidFill>
                  <a:srgbClr val="0F4861"/>
                </a:solidFill>
                <a:latin typeface="Arial"/>
                <a:ea typeface="Arial"/>
                <a:cs typeface="Arial"/>
                <a:sym typeface="Arial"/>
              </a:rPr>
              <a:t>Farming Problem Area</a:t>
            </a:r>
            <a:endParaRPr b="1">
              <a:solidFill>
                <a:srgbClr val="0F4861"/>
              </a:solidFill>
            </a:endParaRPr>
          </a:p>
        </p:txBody>
      </p:sp>
      <p:sp>
        <p:nvSpPr>
          <p:cNvPr id="106" name="Google Shape;106;p4"/>
          <p:cNvSpPr txBox="1"/>
          <p:nvPr>
            <p:ph idx="1" type="body"/>
          </p:nvPr>
        </p:nvSpPr>
        <p:spPr>
          <a:xfrm>
            <a:off x="838200" y="1690825"/>
            <a:ext cx="6747300" cy="44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1778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IN"/>
              <a:t>Inefficient water usage is one of the biggest problems in agriculture.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  <a:p>
            <a:pPr indent="-1778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IN"/>
              <a:t>Farmers often do not have accurate data to decide how much water is needed.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  <a:p>
            <a:pPr indent="-1778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n-IN"/>
              <a:t>Soil conditions, temperature, humidity, and rainfall are not properly analyzed in traditional systems.</a:t>
            </a:r>
            <a:endParaRPr/>
          </a:p>
        </p:txBody>
      </p:sp>
      <p:pic>
        <p:nvPicPr>
          <p:cNvPr id="107" name="Google Shape;107;p4"/>
          <p:cNvPicPr preferRelativeResize="0"/>
          <p:nvPr/>
        </p:nvPicPr>
        <p:blipFill rotWithShape="1">
          <a:blip r:embed="rId3">
            <a:alphaModFix/>
          </a:blip>
          <a:srcRect b="19808" l="0" r="0" t="0"/>
          <a:stretch/>
        </p:blipFill>
        <p:spPr>
          <a:xfrm>
            <a:off x="7924800" y="1752600"/>
            <a:ext cx="3409950" cy="213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4"/>
          <p:cNvPicPr preferRelativeResize="0"/>
          <p:nvPr/>
        </p:nvPicPr>
        <p:blipFill rotWithShape="1">
          <a:blip r:embed="rId4">
            <a:alphaModFix/>
          </a:blip>
          <a:srcRect b="14097" l="0" r="29706" t="0"/>
          <a:stretch/>
        </p:blipFill>
        <p:spPr>
          <a:xfrm>
            <a:off x="7696200" y="4038600"/>
            <a:ext cx="3714750" cy="246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b="1"/>
          </a:p>
        </p:txBody>
      </p:sp>
      <p:sp>
        <p:nvSpPr>
          <p:cNvPr id="114" name="Google Shape;114;p5"/>
          <p:cNvSpPr txBox="1"/>
          <p:nvPr>
            <p:ph idx="1" type="body"/>
          </p:nvPr>
        </p:nvSpPr>
        <p:spPr>
          <a:xfrm>
            <a:off x="1272301" y="16907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IN"/>
              <a:t>Traditional irrigation systems are:</a:t>
            </a:r>
            <a:endParaRPr/>
          </a:p>
          <a:p>
            <a:pPr indent="-1143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Noto Sans Symbols"/>
              <a:buChar char="❖"/>
            </a:pPr>
            <a:r>
              <a:rPr lang="en-IN"/>
              <a:t>Manual and time-consuming</a:t>
            </a:r>
            <a:endParaRPr/>
          </a:p>
          <a:p>
            <a:pPr indent="-1143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Noto Sans Symbols"/>
              <a:buChar char="❖"/>
            </a:pPr>
            <a:r>
              <a:rPr lang="en-IN"/>
              <a:t>Based on guesswork</a:t>
            </a:r>
            <a:endParaRPr/>
          </a:p>
          <a:p>
            <a:pPr indent="-11430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Noto Sans Symbols"/>
              <a:buChar char="❖"/>
            </a:pPr>
            <a:r>
              <a:rPr lang="en-IN"/>
              <a:t>Often lead to over-irrigation or under-irrigation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n-IN"/>
              <a:t>Problem:- </a:t>
            </a:r>
            <a:r>
              <a:rPr lang="en-IN"/>
              <a:t>There is no accurate system to predict the exact water requirement for crops, leading to water wastage and reduced yield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b="1"/>
          </a:p>
        </p:txBody>
      </p:sp>
      <p:pic>
        <p:nvPicPr>
          <p:cNvPr id="120" name="Google Shape;12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3725" y="1261873"/>
            <a:ext cx="2889475" cy="2167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9950" y="1261875"/>
            <a:ext cx="3267500" cy="216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6"/>
          <p:cNvSpPr txBox="1"/>
          <p:nvPr/>
        </p:nvSpPr>
        <p:spPr>
          <a:xfrm>
            <a:off x="1676400" y="4312000"/>
            <a:ext cx="10515600" cy="19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IN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Agriculture consumes over 70% of the world's freshwater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IN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Data-driven methods</a:t>
            </a:r>
            <a:r>
              <a:rPr b="0" i="0" lang="en-IN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help in making accurate and scientific farming decisions.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6"/>
          <p:cNvPicPr preferRelativeResize="0"/>
          <p:nvPr/>
        </p:nvPicPr>
        <p:blipFill rotWithShape="1">
          <a:blip r:embed="rId5">
            <a:alphaModFix/>
          </a:blip>
          <a:srcRect b="0" l="0" r="0" t="9346"/>
          <a:stretch/>
        </p:blipFill>
        <p:spPr>
          <a:xfrm>
            <a:off x="3203725" y="1261875"/>
            <a:ext cx="6723727" cy="3000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7"/>
          <p:cNvPicPr preferRelativeResize="0"/>
          <p:nvPr/>
        </p:nvPicPr>
        <p:blipFill rotWithShape="1">
          <a:blip r:embed="rId3">
            <a:alphaModFix/>
          </a:blip>
          <a:srcRect b="0" l="0" r="0" t="20051"/>
          <a:stretch/>
        </p:blipFill>
        <p:spPr>
          <a:xfrm>
            <a:off x="1106250" y="1690825"/>
            <a:ext cx="10335174" cy="4128574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 sz="4700">
                <a:solidFill>
                  <a:srgbClr val="FF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1" sz="4700">
              <a:solidFill>
                <a:srgbClr val="FF00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Dataset Overview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35" name="Google Shape;135;p8"/>
          <p:cNvSpPr txBox="1"/>
          <p:nvPr>
            <p:ph idx="1" type="body"/>
          </p:nvPr>
        </p:nvSpPr>
        <p:spPr>
          <a:xfrm>
            <a:off x="838201" y="1690700"/>
            <a:ext cx="86733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lang="en-IN"/>
              <a:t>The dataset includes environmental and soil parameters such as: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AutoNum type="arabicPeriod"/>
            </a:pPr>
            <a:r>
              <a:rPr b="1" lang="en-IN"/>
              <a:t>Soil Temperature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AutoNum type="arabicPeriod"/>
            </a:pPr>
            <a:r>
              <a:rPr b="1" lang="en-IN"/>
              <a:t>Humidity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AutoNum type="arabicPeriod"/>
            </a:pPr>
            <a:r>
              <a:rPr b="1" lang="en-IN"/>
              <a:t>Soil Moisture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AutoNum type="arabicPeriod"/>
            </a:pPr>
            <a:r>
              <a:rPr b="1" lang="en-IN"/>
              <a:t>Rainfall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AutoNum type="arabicPeriod"/>
            </a:pPr>
            <a:r>
              <a:rPr b="1" lang="en-IN"/>
              <a:t>Irrigation requirement </a:t>
            </a:r>
            <a:r>
              <a:rPr lang="en-IN"/>
              <a:t>(target variable)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69498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lang="en-IN"/>
              <a:t>Target output: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b="1" lang="en-IN">
                <a:solidFill>
                  <a:srgbClr val="43AFE2"/>
                </a:solidFill>
              </a:rPr>
              <a:t>Water required (liters)</a:t>
            </a:r>
            <a:endParaRPr b="1">
              <a:solidFill>
                <a:srgbClr val="43AFE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IN">
                <a:latin typeface="Times New Roman"/>
                <a:ea typeface="Times New Roman"/>
                <a:cs typeface="Times New Roman"/>
                <a:sym typeface="Times New Roman"/>
              </a:rPr>
              <a:t>Dataset</a:t>
            </a:r>
            <a:endParaRPr/>
          </a:p>
        </p:txBody>
      </p:sp>
      <p:pic>
        <p:nvPicPr>
          <p:cNvPr id="141" name="Google Shape;141;p9"/>
          <p:cNvPicPr preferRelativeResize="0"/>
          <p:nvPr/>
        </p:nvPicPr>
        <p:blipFill rotWithShape="1">
          <a:blip r:embed="rId3">
            <a:alphaModFix/>
          </a:blip>
          <a:srcRect b="0" l="5375" r="0" t="0"/>
          <a:stretch/>
        </p:blipFill>
        <p:spPr>
          <a:xfrm>
            <a:off x="1103750" y="1690700"/>
            <a:ext cx="10250049" cy="486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solidFill>
                  <a:srgbClr val="0F486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Methodology / Approach</a:t>
            </a:r>
            <a:endParaRPr b="1">
              <a:solidFill>
                <a:srgbClr val="0F4861"/>
              </a:solidFill>
            </a:endParaRPr>
          </a:p>
        </p:txBody>
      </p:sp>
      <p:sp>
        <p:nvSpPr>
          <p:cNvPr id="147" name="Google Shape;147;p10"/>
          <p:cNvSpPr txBox="1"/>
          <p:nvPr>
            <p:ph idx="1" type="body"/>
          </p:nvPr>
        </p:nvSpPr>
        <p:spPr>
          <a:xfrm>
            <a:off x="838200" y="1825625"/>
            <a:ext cx="47244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-64135" lvl="0" marL="2286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rPr lang="en-IN" sz="2100"/>
              <a:t> Start</a:t>
            </a:r>
            <a:br>
              <a:rPr lang="en-IN" sz="2100"/>
            </a:br>
            <a:r>
              <a:rPr lang="en-IN" sz="2100"/>
              <a:t>│</a:t>
            </a:r>
            <a:br>
              <a:rPr lang="en-IN" sz="2100"/>
            </a:br>
            <a:r>
              <a:rPr lang="en-IN" sz="2100"/>
              <a:t>▼</a:t>
            </a:r>
            <a:br>
              <a:rPr lang="en-IN" sz="2100"/>
            </a:br>
            <a:r>
              <a:rPr lang="en-IN" sz="2100"/>
              <a:t>  Data Collection (Sensors/Dataset)</a:t>
            </a:r>
            <a:br>
              <a:rPr lang="en-IN" sz="2100"/>
            </a:br>
            <a:r>
              <a:rPr lang="en-IN" sz="2100"/>
              <a:t> │</a:t>
            </a:r>
            <a:br>
              <a:rPr lang="en-IN" sz="2100"/>
            </a:br>
            <a:r>
              <a:rPr lang="en-IN" sz="2100"/>
              <a:t> ▼</a:t>
            </a:r>
            <a:br>
              <a:rPr lang="en-IN" sz="2100"/>
            </a:br>
            <a:r>
              <a:rPr lang="en-IN" sz="2100"/>
              <a:t>   Data Preprocessing</a:t>
            </a:r>
            <a:br>
              <a:rPr lang="en-IN" sz="2100"/>
            </a:br>
            <a:r>
              <a:rPr lang="en-IN" sz="2100"/>
              <a:t> (Cleaning, Normalization)</a:t>
            </a:r>
            <a:br>
              <a:rPr lang="en-IN" sz="2100"/>
            </a:br>
            <a:r>
              <a:rPr lang="en-IN" sz="2100"/>
              <a:t> │</a:t>
            </a:r>
            <a:br>
              <a:rPr lang="en-IN" sz="2100"/>
            </a:br>
            <a:r>
              <a:rPr lang="en-IN" sz="2100"/>
              <a:t> ▼</a:t>
            </a:r>
            <a:br>
              <a:rPr lang="en-IN" sz="2100"/>
            </a:br>
            <a:r>
              <a:rPr lang="en-IN" sz="2100"/>
              <a:t>    Feature Selection</a:t>
            </a:r>
            <a:br>
              <a:rPr lang="en-IN" sz="2100"/>
            </a:br>
            <a:r>
              <a:rPr lang="en-IN" sz="2100"/>
              <a:t>  │</a:t>
            </a:r>
            <a:br>
              <a:rPr lang="en-IN" sz="2100"/>
            </a:br>
            <a:r>
              <a:rPr lang="en-IN" sz="2100"/>
              <a:t>  ▼</a:t>
            </a:r>
            <a:br>
              <a:rPr lang="en-IN" sz="2100"/>
            </a:br>
            <a:r>
              <a:rPr lang="en-IN" sz="2100"/>
              <a:t>   Train-Test Splitting</a:t>
            </a:r>
            <a:br>
              <a:rPr lang="en-IN" sz="2100"/>
            </a:br>
            <a:r>
              <a:rPr lang="en-IN" sz="2100"/>
              <a:t>  │</a:t>
            </a:r>
            <a:br>
              <a:rPr lang="en-IN" sz="2100"/>
            </a:br>
            <a:r>
              <a:rPr lang="en-IN" sz="2100"/>
              <a:t>  ▼</a:t>
            </a:r>
            <a:br>
              <a:rPr lang="en-IN"/>
            </a:br>
            <a:r>
              <a:rPr lang="en-IN"/>
              <a:t> </a:t>
            </a:r>
            <a:endParaRPr/>
          </a:p>
        </p:txBody>
      </p:sp>
      <p:sp>
        <p:nvSpPr>
          <p:cNvPr id="148" name="Google Shape;148;p10"/>
          <p:cNvSpPr txBox="1"/>
          <p:nvPr/>
        </p:nvSpPr>
        <p:spPr>
          <a:xfrm>
            <a:off x="5791200" y="1564243"/>
            <a:ext cx="5105400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Model Selection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(Regression Models)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│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▼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Model Training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│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▼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Model Testing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(MSE, RMSE, R²)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│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▼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Prediction of Irrigation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│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▼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Automatic Water Control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│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 ▼</a:t>
            </a:r>
            <a:b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I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        End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solidFill>
                  <a:schemeClr val="accent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 and Technologies Used</a:t>
            </a:r>
            <a:endParaRPr b="1">
              <a:solidFill>
                <a:schemeClr val="accent3"/>
              </a:solidFill>
            </a:endParaRPr>
          </a:p>
        </p:txBody>
      </p:sp>
      <p:sp>
        <p:nvSpPr>
          <p:cNvPr id="154" name="Google Shape;154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IN">
                <a:latin typeface="Times New Roman"/>
                <a:ea typeface="Times New Roman"/>
                <a:cs typeface="Times New Roman"/>
                <a:sym typeface="Times New Roman"/>
              </a:rPr>
              <a:t>Libraries Used: 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IN" sz="2800">
                <a:latin typeface="Times New Roman"/>
                <a:ea typeface="Times New Roman"/>
                <a:cs typeface="Times New Roman"/>
                <a:sym typeface="Times New Roman"/>
              </a:rPr>
              <a:t>Example - </a:t>
            </a:r>
            <a:r>
              <a:rPr b="1" lang="en-IN" sz="2800">
                <a:latin typeface="Times New Roman"/>
                <a:ea typeface="Times New Roman"/>
                <a:cs typeface="Times New Roman"/>
                <a:sym typeface="Times New Roman"/>
              </a:rPr>
              <a:t>scikit-learn, pandas, numpy, matplotlib</a:t>
            </a:r>
            <a:endParaRPr b="1" sz="2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b="1"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IN">
                <a:latin typeface="Times New Roman"/>
                <a:ea typeface="Times New Roman"/>
                <a:cs typeface="Times New Roman"/>
                <a:sym typeface="Times New Roman"/>
              </a:rPr>
              <a:t>Development Environment: </a:t>
            </a:r>
            <a:r>
              <a:rPr b="1" lang="en-IN">
                <a:latin typeface="Times New Roman"/>
                <a:ea typeface="Times New Roman"/>
                <a:cs typeface="Times New Roman"/>
                <a:sym typeface="Times New Roman"/>
              </a:rPr>
              <a:t>Google Colab </a:t>
            </a:r>
            <a:endParaRPr b="1"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55" name="Google Shape;1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7475" y="3944013"/>
            <a:ext cx="6677025" cy="1990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02325" y="1328775"/>
            <a:ext cx="4276700" cy="108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solidFill>
                  <a:srgbClr val="0B769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</a:t>
            </a:r>
            <a:endParaRPr b="1">
              <a:solidFill>
                <a:srgbClr val="0B769F"/>
              </a:solidFill>
            </a:endParaRPr>
          </a:p>
        </p:txBody>
      </p:sp>
      <p:sp>
        <p:nvSpPr>
          <p:cNvPr id="162" name="Google Shape;162;p12"/>
          <p:cNvSpPr txBox="1"/>
          <p:nvPr>
            <p:ph idx="1" type="body"/>
          </p:nvPr>
        </p:nvSpPr>
        <p:spPr>
          <a:xfrm>
            <a:off x="609600" y="137160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IN"/>
              <a:t>Model performance metrics :- 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b="1">
              <a:solidFill>
                <a:srgbClr val="C00000"/>
              </a:solidFill>
            </a:endParaRPr>
          </a:p>
        </p:txBody>
      </p:sp>
      <p:pic>
        <p:nvPicPr>
          <p:cNvPr id="163" name="Google Shape;16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9200" y="1981200"/>
            <a:ext cx="8458200" cy="335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rgbClr val="12501B"/>
                </a:solidFill>
              </a:rPr>
              <a:t>Visualizations:</a:t>
            </a:r>
            <a:endParaRPr b="1">
              <a:solidFill>
                <a:srgbClr val="12501B"/>
              </a:solidFill>
            </a:endParaRPr>
          </a:p>
        </p:txBody>
      </p:sp>
      <p:sp>
        <p:nvSpPr>
          <p:cNvPr id="169" name="Google Shape;169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MAE comparison of models</a:t>
            </a:r>
            <a:endParaRPr/>
          </a:p>
        </p:txBody>
      </p:sp>
      <p:pic>
        <p:nvPicPr>
          <p:cNvPr id="170" name="Google Shape;1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514600"/>
            <a:ext cx="4695160" cy="3768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0" y="2667000"/>
            <a:ext cx="4629150" cy="3629891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3"/>
          <p:cNvSpPr txBox="1"/>
          <p:nvPr/>
        </p:nvSpPr>
        <p:spPr>
          <a:xfrm>
            <a:off x="6781800" y="1981200"/>
            <a:ext cx="417293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IN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RSME comparison of models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4"/>
          <p:cNvSpPr txBox="1"/>
          <p:nvPr>
            <p:ph type="title"/>
          </p:nvPr>
        </p:nvSpPr>
        <p:spPr>
          <a:xfrm>
            <a:off x="6934200" y="1676400"/>
            <a:ext cx="4191000" cy="776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IN" sz="2000"/>
              <a:t>Accuracy comparison of models</a:t>
            </a:r>
            <a:endParaRPr sz="2000"/>
          </a:p>
        </p:txBody>
      </p:sp>
      <p:sp>
        <p:nvSpPr>
          <p:cNvPr id="178" name="Google Shape;178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 sz="2000"/>
              <a:t>3 R2 SCORE comparison of models</a:t>
            </a:r>
            <a:endParaRPr sz="2000"/>
          </a:p>
        </p:txBody>
      </p:sp>
      <p:pic>
        <p:nvPicPr>
          <p:cNvPr id="179" name="Google Shape;17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2514600"/>
            <a:ext cx="4486275" cy="32696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24600" y="2590800"/>
            <a:ext cx="4695824" cy="350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5"/>
          <p:cNvSpPr txBox="1"/>
          <p:nvPr>
            <p:ph type="title"/>
          </p:nvPr>
        </p:nvSpPr>
        <p:spPr>
          <a:xfrm>
            <a:off x="6400800" y="1524000"/>
            <a:ext cx="52578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3333"/>
              <a:buNone/>
            </a:pPr>
            <a:r>
              <a:rPr lang="en-IN" sz="2400"/>
              <a:t>comparison of models after hypertuning</a:t>
            </a:r>
            <a:endParaRPr sz="2400"/>
          </a:p>
        </p:txBody>
      </p:sp>
      <p:sp>
        <p:nvSpPr>
          <p:cNvPr id="186" name="Google Shape;186;p15"/>
          <p:cNvSpPr txBox="1"/>
          <p:nvPr>
            <p:ph idx="1" type="body"/>
          </p:nvPr>
        </p:nvSpPr>
        <p:spPr>
          <a:xfrm>
            <a:off x="838200" y="1676400"/>
            <a:ext cx="10515600" cy="4500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IN"/>
              <a:t> comparison of models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b="1"/>
          </a:p>
        </p:txBody>
      </p:sp>
      <p:pic>
        <p:nvPicPr>
          <p:cNvPr id="187" name="Google Shape;18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0" y="2819400"/>
            <a:ext cx="4399972" cy="30060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29400" y="2743200"/>
            <a:ext cx="4582164" cy="38105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chemeClr val="accent5"/>
                </a:solidFill>
              </a:rPr>
              <a:t>Observations: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94" name="Google Shape;194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The regression model successfully predicts </a:t>
            </a:r>
            <a:r>
              <a:rPr b="1" lang="en-IN"/>
              <a:t>water requirements.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Water usage reduced compared to traditional irrigation.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Improved crop health due to optimized watering.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Accuracy depends on </a:t>
            </a:r>
            <a:r>
              <a:rPr b="1" lang="en-IN"/>
              <a:t>quality and quantity of training data.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b="1" lang="en-IN">
                <a:latin typeface="Times New Roman"/>
                <a:ea typeface="Times New Roman"/>
                <a:cs typeface="Times New Roman"/>
                <a:sym typeface="Times New Roman"/>
              </a:rPr>
              <a:t>Discussion / Analysis</a:t>
            </a:r>
            <a:endParaRPr b="1"/>
          </a:p>
        </p:txBody>
      </p:sp>
      <p:sp>
        <p:nvSpPr>
          <p:cNvPr id="200" name="Google Shape;200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Linear Regression best:</a:t>
            </a:r>
            <a:r>
              <a:rPr lang="en-IN"/>
              <a:t> lowest errors, </a:t>
            </a:r>
            <a:r>
              <a:rPr lang="en-IN">
                <a:solidFill>
                  <a:schemeClr val="accent5"/>
                </a:solidFill>
              </a:rPr>
              <a:t>highest R² (0.960) and accuracy (0.94).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Random Forest good:</a:t>
            </a:r>
            <a:r>
              <a:rPr lang="en-IN"/>
              <a:t> strong performance, slightly below Linear Regression.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ANN moderate:</a:t>
            </a:r>
            <a:r>
              <a:rPr lang="en-IN"/>
              <a:t> needs more tuning/data.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Decision Tree &amp; SVR weak:</a:t>
            </a:r>
            <a:r>
              <a:rPr lang="en-IN"/>
              <a:t> higher errors, less reliable.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rgbClr val="FF0000"/>
                </a:solidFill>
              </a:rPr>
              <a:t>Limitations: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06" name="Google Shape;206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Requires reliable sensor data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Initial setup cost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Model accuracy depends on dataset quality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Internet dependency (if cloud-based)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07" name="Google Shape;207;p18"/>
          <p:cNvPicPr preferRelativeResize="0"/>
          <p:nvPr/>
        </p:nvPicPr>
        <p:blipFill rotWithShape="1">
          <a:blip r:embed="rId3">
            <a:alphaModFix/>
          </a:blip>
          <a:srcRect b="-10060" l="0" r="0" t="10060"/>
          <a:stretch/>
        </p:blipFill>
        <p:spPr>
          <a:xfrm>
            <a:off x="8516700" y="-362619"/>
            <a:ext cx="3097000" cy="405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45455"/>
              <a:buNone/>
            </a:pPr>
            <a:r>
              <a:rPr b="1" lang="en-IN">
                <a:solidFill>
                  <a:srgbClr val="BF4F1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How results could impact agricultural decision-making?</a:t>
            </a:r>
            <a:br>
              <a:rPr b="1" lang="en-IN">
                <a:solidFill>
                  <a:srgbClr val="BF4F14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b="1">
              <a:solidFill>
                <a:srgbClr val="BF4F14"/>
              </a:solidFill>
            </a:endParaRPr>
          </a:p>
        </p:txBody>
      </p:sp>
      <p:sp>
        <p:nvSpPr>
          <p:cNvPr id="213" name="Google Shape;213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Improved </a:t>
            </a:r>
            <a:r>
              <a:rPr b="1" lang="en-IN"/>
              <a:t>irrigation planning </a:t>
            </a:r>
            <a:r>
              <a:rPr lang="en-IN"/>
              <a:t>(right amount of water)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 Efficient </a:t>
            </a:r>
            <a:r>
              <a:rPr b="1" lang="en-IN"/>
              <a:t>water resource utilization 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Reduced </a:t>
            </a:r>
            <a:r>
              <a:rPr b="1" lang="en-IN"/>
              <a:t>operational costs </a:t>
            </a:r>
            <a:r>
              <a:rPr lang="en-IN"/>
              <a:t>(energy, labor)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Enhanced crop yield and plant health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 Simpler and reliable model selection </a:t>
            </a:r>
            <a:r>
              <a:rPr lang="en-IN"/>
              <a:t>(Linear Regression) Supports real-time, data-driven irrigation decisions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rgbClr val="0B769F"/>
                </a:solidFill>
              </a:rPr>
              <a:t>Future Scope</a:t>
            </a:r>
            <a:endParaRPr b="1">
              <a:solidFill>
                <a:srgbClr val="0B769F"/>
              </a:solidFill>
            </a:endParaRPr>
          </a:p>
        </p:txBody>
      </p:sp>
      <p:sp>
        <p:nvSpPr>
          <p:cNvPr id="219" name="Google Shape;219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Integration with </a:t>
            </a:r>
            <a:r>
              <a:rPr b="1" lang="en-IN"/>
              <a:t>weather forecasting APIs</a:t>
            </a:r>
            <a:endParaRPr b="1"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IN"/>
              <a:t>Use of advanced ML models (</a:t>
            </a:r>
            <a:r>
              <a:rPr b="1" lang="en-IN"/>
              <a:t>Random Forest, Neural Networks</a:t>
            </a:r>
            <a:r>
              <a:rPr lang="en-IN"/>
              <a:t>)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b="1" lang="en-IN"/>
              <a:t>Mobile app </a:t>
            </a:r>
            <a:r>
              <a:rPr lang="en-IN"/>
              <a:t>for monitoring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Solar-powered irrigation </a:t>
            </a:r>
            <a:r>
              <a:rPr lang="en-IN"/>
              <a:t>system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rgbClr val="4892DC"/>
                </a:solidFill>
              </a:rPr>
              <a:t>Practical Application </a:t>
            </a:r>
            <a:endParaRPr b="1">
              <a:solidFill>
                <a:srgbClr val="4892DC"/>
              </a:solidFill>
            </a:endParaRPr>
          </a:p>
        </p:txBody>
      </p:sp>
      <p:sp>
        <p:nvSpPr>
          <p:cNvPr id="225" name="Google Shape;225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Smart irrigation </a:t>
            </a:r>
            <a:r>
              <a:rPr lang="en-IN"/>
              <a:t>scheduling using predicted water requirements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Integration with sensors</a:t>
            </a:r>
            <a:r>
              <a:rPr lang="en-IN"/>
              <a:t> (soil moisture, temperature) for automated systems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Use in </a:t>
            </a:r>
            <a:r>
              <a:rPr b="1" lang="en-IN"/>
              <a:t>precision agriculture </a:t>
            </a:r>
            <a:r>
              <a:rPr lang="en-IN"/>
              <a:t>for field-specific irrigation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Mobile/web-based decision </a:t>
            </a:r>
            <a:r>
              <a:rPr lang="en-IN"/>
              <a:t>support tools for farmers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b="1" lang="en-IN"/>
              <a:t>Optimization of water</a:t>
            </a:r>
            <a:r>
              <a:rPr lang="en-IN"/>
              <a:t> use in drip and sprinkler systems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Support for </a:t>
            </a:r>
            <a:r>
              <a:rPr b="1" lang="en-IN"/>
              <a:t>sustainable farming</a:t>
            </a:r>
            <a:r>
              <a:rPr lang="en-IN"/>
              <a:t> and resource management 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2"/>
          <p:cNvSpPr txBox="1"/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rgbClr val="3A7D2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>
              <a:solidFill>
                <a:srgbClr val="3A7D22"/>
              </a:solidFill>
            </a:endParaRPr>
          </a:p>
        </p:txBody>
      </p:sp>
      <p:sp>
        <p:nvSpPr>
          <p:cNvPr id="231" name="Google Shape;231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Data-driven system optimizes irrigation using soil and environmental parameters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Accurately predicts water requirements, reducing wastage and improving yield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 Linear Regression performed best, indicating a strong linear relationship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Enables automation with minimal human intervention and real-time decisions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IN"/>
              <a:t> Cost-effective solution supporting sustainable and efficient agriculture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IN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>
              <a:solidFill>
                <a:schemeClr val="accent4"/>
              </a:solidFill>
            </a:endParaRPr>
          </a:p>
        </p:txBody>
      </p:sp>
      <p:sp>
        <p:nvSpPr>
          <p:cNvPr id="237" name="Google Shape;237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62500" lnSpcReduction="20000"/>
          </a:bodyPr>
          <a:lstStyle/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2857"/>
              <a:buChar char="•"/>
            </a:pPr>
            <a:r>
              <a:rPr lang="en-IN"/>
              <a:t>Ahansal, Y., Bouziani, M., Yaagoubi, R., Sebari, I., &amp; Kenny, L. (2022).</a:t>
            </a:r>
            <a:br>
              <a:rPr lang="en-IN"/>
            </a:br>
            <a:r>
              <a:rPr i="1" lang="en-IN"/>
              <a:t>Towards Smart Irrigation: A Literature Review on the Use of Geospatial Technologies and Machine Learning.</a:t>
            </a:r>
            <a:br>
              <a:rPr lang="en-IN"/>
            </a:br>
            <a:r>
              <a:rPr lang="en-IN"/>
              <a:t>Journal: Agronomy, 12(2), 297.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2857"/>
              <a:buChar char="•"/>
            </a:pPr>
            <a:r>
              <a:rPr lang="en-IN"/>
              <a:t>Tace, Y., Tabaa, M., El Filali, S., &amp; Cherkaoui, L. (2022).</a:t>
            </a:r>
            <a:br>
              <a:rPr lang="en-IN"/>
            </a:br>
            <a:r>
              <a:rPr i="1" lang="en-IN"/>
              <a:t>Smart Irrigation System Based on IoT and Machine Learning.</a:t>
            </a:r>
            <a:br>
              <a:rPr lang="en-IN"/>
            </a:br>
            <a:r>
              <a:rPr lang="en-IN"/>
              <a:t>Journal: Energy Reports.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2857"/>
              <a:buChar char="•"/>
            </a:pPr>
            <a:r>
              <a:rPr lang="en-IN"/>
              <a:t>Roy, U. B. P., Sattar, K. N. A., &amp; Elngar, A. A. (2025).</a:t>
            </a:r>
            <a:br>
              <a:rPr lang="en-IN"/>
            </a:br>
            <a:r>
              <a:rPr i="1" lang="en-IN"/>
              <a:t>A Smart Irrigation System Using IoT and Advanced Machine Learning Model.</a:t>
            </a:r>
            <a:br>
              <a:rPr lang="en-IN"/>
            </a:br>
            <a:r>
              <a:rPr lang="en-IN"/>
              <a:t>Journal: Journal of Smart Internet of Things.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2857"/>
              <a:buChar char="•"/>
            </a:pPr>
            <a:r>
              <a:rPr lang="en-IN"/>
              <a:t>Abiadi, Y., Elamrani Abou Elassad, Z., El Meslouhi, O., &amp; Ed-dahbi, A. M. (2023).</a:t>
            </a:r>
            <a:br>
              <a:rPr lang="en-IN"/>
            </a:br>
            <a:r>
              <a:rPr i="1" lang="en-IN"/>
              <a:t>Application of Machine Learning Techniques for Smart Irrigation Systems: A Systematic Review.</a:t>
            </a:r>
            <a:br>
              <a:rPr lang="en-IN"/>
            </a:br>
            <a:r>
              <a:rPr lang="en-IN"/>
              <a:t>Journal: SSRN / Smart Agricultural Technology. </a:t>
            </a:r>
            <a:endParaRPr/>
          </a:p>
          <a:p>
            <a:pPr indent="-3429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2857"/>
              <a:buChar char="•"/>
            </a:pPr>
            <a:r>
              <a:rPr lang="en-IN"/>
              <a:t>Jaiswal, N., Kumar, T. V., &amp; Shukla, C. (2025).</a:t>
            </a:r>
            <a:br>
              <a:rPr lang="en-IN"/>
            </a:br>
            <a:r>
              <a:rPr i="1" lang="en-IN"/>
              <a:t>Smart Drip Irrigation Systems Using IoT: Review of Architectures and Machine Learning Models.</a:t>
            </a:r>
            <a:br>
              <a:rPr lang="en-IN"/>
            </a:br>
            <a:r>
              <a:rPr lang="en-IN"/>
              <a:t>Journal: Discover Agriculture (Springer). 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2857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243" name="Google Shape;243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